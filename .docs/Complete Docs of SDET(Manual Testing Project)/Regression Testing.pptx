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6" r:id="rId10"/>
    <p:sldId id="272" r:id="rId11"/>
    <p:sldId id="270" r:id="rId12"/>
    <p:sldId id="271" r:id="rId13"/>
    <p:sldId id="264" r:id="rId14"/>
    <p:sldId id="265"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5" autoAdjust="0"/>
    <p:restoredTop sz="94660"/>
  </p:normalViewPr>
  <p:slideViewPr>
    <p:cSldViewPr snapToGrid="0">
      <p:cViewPr varScale="1">
        <p:scale>
          <a:sx n="64" d="100"/>
          <a:sy n="64" d="100"/>
        </p:scale>
        <p:origin x="21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D683D93-2DEA-4D6B-86F7-BBB483A3BEE4}" type="datetimeFigureOut">
              <a:rPr lang="en-US" smtClean="0"/>
              <a:t>16/05/2020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FC95090-9FBD-4A32-A00D-8F98AC7EF0CA}" type="slidenum">
              <a:rPr lang="en-US" smtClean="0"/>
              <a:t>‹#›</a:t>
            </a:fld>
            <a:endParaRPr lang="en-US"/>
          </a:p>
        </p:txBody>
      </p:sp>
    </p:spTree>
    <p:extLst>
      <p:ext uri="{BB962C8B-B14F-4D97-AF65-F5344CB8AC3E}">
        <p14:creationId xmlns:p14="http://schemas.microsoft.com/office/powerpoint/2010/main" val="25675149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FC95090-9FBD-4A32-A00D-8F98AC7EF0CA}" type="slidenum">
              <a:rPr lang="en-US" smtClean="0"/>
              <a:t>6</a:t>
            </a:fld>
            <a:endParaRPr lang="en-US"/>
          </a:p>
        </p:txBody>
      </p:sp>
    </p:spTree>
    <p:extLst>
      <p:ext uri="{BB962C8B-B14F-4D97-AF65-F5344CB8AC3E}">
        <p14:creationId xmlns:p14="http://schemas.microsoft.com/office/powerpoint/2010/main" val="19725472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222B60A6-DC39-42CB-B89D-7918C4D50EDA}" type="datetime1">
              <a:rPr lang="en-US" smtClean="0"/>
              <a:t>16/05/2020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609F398-C622-4AA7-9AAC-BEB9A4B8EC3D}" type="slidenum">
              <a:rPr lang="en-US" smtClean="0"/>
              <a:t>‹#›</a:t>
            </a:fld>
            <a:endParaRPr lang="en-US"/>
          </a:p>
        </p:txBody>
      </p:sp>
    </p:spTree>
    <p:extLst>
      <p:ext uri="{BB962C8B-B14F-4D97-AF65-F5344CB8AC3E}">
        <p14:creationId xmlns:p14="http://schemas.microsoft.com/office/powerpoint/2010/main" val="39007977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DA38A11-4E16-4004-898A-7CC1DA0D6D82}" type="datetime1">
              <a:rPr lang="en-US" smtClean="0"/>
              <a:t>16/05/2020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609F398-C622-4AA7-9AAC-BEB9A4B8EC3D}" type="slidenum">
              <a:rPr lang="en-US" smtClean="0"/>
              <a:t>‹#›</a:t>
            </a:fld>
            <a:endParaRPr lang="en-US"/>
          </a:p>
        </p:txBody>
      </p:sp>
    </p:spTree>
    <p:extLst>
      <p:ext uri="{BB962C8B-B14F-4D97-AF65-F5344CB8AC3E}">
        <p14:creationId xmlns:p14="http://schemas.microsoft.com/office/powerpoint/2010/main" val="12486578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0CD395A-ED48-41B8-9B15-DDE226E05BEA}" type="datetime1">
              <a:rPr lang="en-US" smtClean="0"/>
              <a:t>16/05/2020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609F398-C622-4AA7-9AAC-BEB9A4B8EC3D}" type="slidenum">
              <a:rPr lang="en-US" smtClean="0"/>
              <a:t>‹#›</a:t>
            </a:fld>
            <a:endParaRPr lang="en-US"/>
          </a:p>
        </p:txBody>
      </p:sp>
    </p:spTree>
    <p:extLst>
      <p:ext uri="{BB962C8B-B14F-4D97-AF65-F5344CB8AC3E}">
        <p14:creationId xmlns:p14="http://schemas.microsoft.com/office/powerpoint/2010/main" val="226064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AF270CFE-DB0F-40E3-8A2F-398F3B919D43}" type="datetime1">
              <a:rPr lang="en-US" smtClean="0"/>
              <a:t>16/05/2020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609F398-C622-4AA7-9AAC-BEB9A4B8EC3D}" type="slidenum">
              <a:rPr lang="en-US" smtClean="0"/>
              <a:t>‹#›</a:t>
            </a:fld>
            <a:endParaRPr lang="en-US"/>
          </a:p>
        </p:txBody>
      </p:sp>
    </p:spTree>
    <p:extLst>
      <p:ext uri="{BB962C8B-B14F-4D97-AF65-F5344CB8AC3E}">
        <p14:creationId xmlns:p14="http://schemas.microsoft.com/office/powerpoint/2010/main" val="9358457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941CF763-D4BB-4960-ADD8-90DD000F57E7}" type="datetime1">
              <a:rPr lang="en-US" smtClean="0"/>
              <a:t>16/05/2020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609F398-C622-4AA7-9AAC-BEB9A4B8EC3D}" type="slidenum">
              <a:rPr lang="en-US" smtClean="0"/>
              <a:t>‹#›</a:t>
            </a:fld>
            <a:endParaRPr lang="en-US"/>
          </a:p>
        </p:txBody>
      </p:sp>
    </p:spTree>
    <p:extLst>
      <p:ext uri="{BB962C8B-B14F-4D97-AF65-F5344CB8AC3E}">
        <p14:creationId xmlns:p14="http://schemas.microsoft.com/office/powerpoint/2010/main" val="32994990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F6F47554-3FD0-43E3-87E9-99D16B200F8C}" type="datetime1">
              <a:rPr lang="en-US" smtClean="0"/>
              <a:t>16/05/2020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609F398-C622-4AA7-9AAC-BEB9A4B8EC3D}" type="slidenum">
              <a:rPr lang="en-US" smtClean="0"/>
              <a:t>‹#›</a:t>
            </a:fld>
            <a:endParaRPr lang="en-US"/>
          </a:p>
        </p:txBody>
      </p:sp>
    </p:spTree>
    <p:extLst>
      <p:ext uri="{BB962C8B-B14F-4D97-AF65-F5344CB8AC3E}">
        <p14:creationId xmlns:p14="http://schemas.microsoft.com/office/powerpoint/2010/main" val="695952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2D83DBC-6866-4BEA-8210-A4FA4632AA8D}" type="datetime1">
              <a:rPr lang="en-US" smtClean="0"/>
              <a:t>16/05/2020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609F398-C622-4AA7-9AAC-BEB9A4B8EC3D}" type="slidenum">
              <a:rPr lang="en-US" smtClean="0"/>
              <a:t>‹#›</a:t>
            </a:fld>
            <a:endParaRPr lang="en-US"/>
          </a:p>
        </p:txBody>
      </p:sp>
    </p:spTree>
    <p:extLst>
      <p:ext uri="{BB962C8B-B14F-4D97-AF65-F5344CB8AC3E}">
        <p14:creationId xmlns:p14="http://schemas.microsoft.com/office/powerpoint/2010/main" val="27585318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4285BD5-0DFB-4F61-956B-41CB19605516}" type="datetime1">
              <a:rPr lang="en-US" smtClean="0"/>
              <a:t>16/05/2020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609F398-C622-4AA7-9AAC-BEB9A4B8EC3D}" type="slidenum">
              <a:rPr lang="en-US" smtClean="0"/>
              <a:t>‹#›</a:t>
            </a:fld>
            <a:endParaRPr lang="en-US"/>
          </a:p>
        </p:txBody>
      </p:sp>
    </p:spTree>
    <p:extLst>
      <p:ext uri="{BB962C8B-B14F-4D97-AF65-F5344CB8AC3E}">
        <p14:creationId xmlns:p14="http://schemas.microsoft.com/office/powerpoint/2010/main" val="35613484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72E7208-C282-4A1D-B93B-78C704591D37}" type="datetime1">
              <a:rPr lang="en-US" smtClean="0"/>
              <a:t>16/05/2020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609F398-C622-4AA7-9AAC-BEB9A4B8EC3D}" type="slidenum">
              <a:rPr lang="en-US" smtClean="0"/>
              <a:t>‹#›</a:t>
            </a:fld>
            <a:endParaRPr lang="en-US"/>
          </a:p>
        </p:txBody>
      </p:sp>
    </p:spTree>
    <p:extLst>
      <p:ext uri="{BB962C8B-B14F-4D97-AF65-F5344CB8AC3E}">
        <p14:creationId xmlns:p14="http://schemas.microsoft.com/office/powerpoint/2010/main" val="13442597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CC9C7EC-D2F5-451F-847B-94D2263C17BF}" type="datetime1">
              <a:rPr lang="en-US" smtClean="0"/>
              <a:t>16/05/2020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609F398-C622-4AA7-9AAC-BEB9A4B8EC3D}" type="slidenum">
              <a:rPr lang="en-US" smtClean="0"/>
              <a:t>‹#›</a:t>
            </a:fld>
            <a:endParaRPr lang="en-US"/>
          </a:p>
        </p:txBody>
      </p:sp>
    </p:spTree>
    <p:extLst>
      <p:ext uri="{BB962C8B-B14F-4D97-AF65-F5344CB8AC3E}">
        <p14:creationId xmlns:p14="http://schemas.microsoft.com/office/powerpoint/2010/main" val="29010626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BE8EA2B-D3C3-435D-A138-0A7E736F2DBD}" type="datetime1">
              <a:rPr lang="en-US" smtClean="0"/>
              <a:t>16/05/2020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609F398-C622-4AA7-9AAC-BEB9A4B8EC3D}" type="slidenum">
              <a:rPr lang="en-US" smtClean="0"/>
              <a:t>‹#›</a:t>
            </a:fld>
            <a:endParaRPr lang="en-US"/>
          </a:p>
        </p:txBody>
      </p:sp>
    </p:spTree>
    <p:extLst>
      <p:ext uri="{BB962C8B-B14F-4D97-AF65-F5344CB8AC3E}">
        <p14:creationId xmlns:p14="http://schemas.microsoft.com/office/powerpoint/2010/main" val="13573143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E0FB737-06AB-40B5-A2EA-D6413763E1A4}" type="datetime1">
              <a:rPr lang="en-US" smtClean="0"/>
              <a:t>16/05/2020</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609F398-C622-4AA7-9AAC-BEB9A4B8EC3D}" type="slidenum">
              <a:rPr lang="en-US" smtClean="0"/>
              <a:t>‹#›</a:t>
            </a:fld>
            <a:endParaRPr lang="en-US"/>
          </a:p>
        </p:txBody>
      </p:sp>
    </p:spTree>
    <p:extLst>
      <p:ext uri="{BB962C8B-B14F-4D97-AF65-F5344CB8AC3E}">
        <p14:creationId xmlns:p14="http://schemas.microsoft.com/office/powerpoint/2010/main" val="27463523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www.guru99.com/regression-testing.html" TargetMode="External"/><Relationship Id="rId7" Type="http://schemas.openxmlformats.org/officeDocument/2006/relationships/hyperlink" Target="http://thinktesting.wordpress.com/2010/11/23/regression-testing-strategic-and-risk-driven-can-you-afford-not-to/" TargetMode="External"/><Relationship Id="rId2" Type="http://schemas.openxmlformats.org/officeDocument/2006/relationships/hyperlink" Target="http://en.wikipedia.org/wiki/Regression_testing" TargetMode="External"/><Relationship Id="rId1" Type="http://schemas.openxmlformats.org/officeDocument/2006/relationships/slideLayout" Target="../slideLayouts/slideLayout2.xml"/><Relationship Id="rId6" Type="http://schemas.openxmlformats.org/officeDocument/2006/relationships/hyperlink" Target="http://blogs.msdn.com/b/imtesty/archive/2007/01/10/regression-testing-strategies.aspx" TargetMode="External"/><Relationship Id="rId5" Type="http://schemas.openxmlformats.org/officeDocument/2006/relationships/hyperlink" Target="http://www.scribd.com/doc/6095386/Effective-Regression-Testing-Strategy" TargetMode="External"/><Relationship Id="rId4" Type="http://schemas.openxmlformats.org/officeDocument/2006/relationships/hyperlink" Target="http://ieeexplore.ieee.org/xpl/login.jsp?tp=&amp;arnumber=6132961&amp;url=http%3A%2F%2Fieeexplore.ieee.org%2Fxpls%2Fabs_all.jsp%3Farnumber%3D6132961"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R</a:t>
            </a:r>
            <a:r>
              <a:rPr lang="en-US" smtClean="0"/>
              <a:t>egression Testing</a:t>
            </a:r>
            <a:endParaRPr lang="en-US"/>
          </a:p>
        </p:txBody>
      </p:sp>
      <p:sp>
        <p:nvSpPr>
          <p:cNvPr id="3" name="Subtitle 2"/>
          <p:cNvSpPr>
            <a:spLocks noGrp="1"/>
          </p:cNvSpPr>
          <p:nvPr>
            <p:ph type="subTitle" idx="1"/>
          </p:nvPr>
        </p:nvSpPr>
        <p:spPr/>
        <p:txBody>
          <a:bodyPr/>
          <a:lstStyle/>
          <a:p>
            <a:r>
              <a:rPr lang="en-US" smtClean="0"/>
              <a:t>By Mohua Amin</a:t>
            </a:r>
            <a:endParaRPr lang="en-US"/>
          </a:p>
        </p:txBody>
      </p:sp>
      <p:sp>
        <p:nvSpPr>
          <p:cNvPr id="4" name="Slide Number Placeholder 3"/>
          <p:cNvSpPr>
            <a:spLocks noGrp="1"/>
          </p:cNvSpPr>
          <p:nvPr>
            <p:ph type="sldNum" sz="quarter" idx="12"/>
          </p:nvPr>
        </p:nvSpPr>
        <p:spPr/>
        <p:txBody>
          <a:bodyPr/>
          <a:lstStyle/>
          <a:p>
            <a:fld id="{8609F398-C622-4AA7-9AAC-BEB9A4B8EC3D}" type="slidenum">
              <a:rPr lang="en-US" smtClean="0"/>
              <a:t>1</a:t>
            </a:fld>
            <a:endParaRPr lang="en-US"/>
          </a:p>
        </p:txBody>
      </p:sp>
    </p:spTree>
    <p:extLst>
      <p:ext uri="{BB962C8B-B14F-4D97-AF65-F5344CB8AC3E}">
        <p14:creationId xmlns:p14="http://schemas.microsoft.com/office/powerpoint/2010/main" val="342432013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smtClean="0"/>
              <a:t>Today’s Topics</a:t>
            </a:r>
            <a:endParaRPr lang="en-US" b="1"/>
          </a:p>
        </p:txBody>
      </p:sp>
      <p:sp>
        <p:nvSpPr>
          <p:cNvPr id="3" name="Content Placeholder 2"/>
          <p:cNvSpPr>
            <a:spLocks noGrp="1"/>
          </p:cNvSpPr>
          <p:nvPr>
            <p:ph idx="1"/>
          </p:nvPr>
        </p:nvSpPr>
        <p:spPr/>
        <p:txBody>
          <a:bodyPr>
            <a:normAutofit/>
          </a:bodyPr>
          <a:lstStyle/>
          <a:p>
            <a:r>
              <a:rPr lang="en-US" sz="3200" smtClean="0"/>
              <a:t>What is regression testing?</a:t>
            </a:r>
          </a:p>
          <a:p>
            <a:r>
              <a:rPr lang="en-US" sz="3200" smtClean="0"/>
              <a:t>When to do it?</a:t>
            </a:r>
          </a:p>
          <a:p>
            <a:r>
              <a:rPr lang="en-US" sz="3200" smtClean="0"/>
              <a:t>What’s the strategy?</a:t>
            </a:r>
          </a:p>
          <a:p>
            <a:r>
              <a:rPr lang="en-US" sz="3200" smtClean="0"/>
              <a:t>Pros and cons</a:t>
            </a:r>
          </a:p>
          <a:p>
            <a:r>
              <a:rPr lang="en-US" sz="3200" smtClean="0"/>
              <a:t>Conclusion</a:t>
            </a:r>
            <a:endParaRPr lang="en-US" sz="3200"/>
          </a:p>
        </p:txBody>
      </p:sp>
      <p:sp>
        <p:nvSpPr>
          <p:cNvPr id="4" name="Slide Number Placeholder 3"/>
          <p:cNvSpPr>
            <a:spLocks noGrp="1"/>
          </p:cNvSpPr>
          <p:nvPr>
            <p:ph type="sldNum" sz="quarter" idx="12"/>
          </p:nvPr>
        </p:nvSpPr>
        <p:spPr/>
        <p:txBody>
          <a:bodyPr/>
          <a:lstStyle/>
          <a:p>
            <a:fld id="{8609F398-C622-4AA7-9AAC-BEB9A4B8EC3D}" type="slidenum">
              <a:rPr lang="en-US" smtClean="0"/>
              <a:t>2</a:t>
            </a:fld>
            <a:endParaRPr lang="en-US"/>
          </a:p>
        </p:txBody>
      </p:sp>
    </p:spTree>
    <p:extLst>
      <p:ext uri="{BB962C8B-B14F-4D97-AF65-F5344CB8AC3E}">
        <p14:creationId xmlns:p14="http://schemas.microsoft.com/office/powerpoint/2010/main" val="189549157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What is this term “Regression”?</a:t>
            </a:r>
            <a:endParaRPr lang="en-US"/>
          </a:p>
        </p:txBody>
      </p:sp>
      <p:sp>
        <p:nvSpPr>
          <p:cNvPr id="3" name="Content Placeholder 2"/>
          <p:cNvSpPr>
            <a:spLocks noGrp="1"/>
          </p:cNvSpPr>
          <p:nvPr>
            <p:ph idx="1"/>
          </p:nvPr>
        </p:nvSpPr>
        <p:spPr/>
        <p:txBody>
          <a:bodyPr>
            <a:normAutofit/>
          </a:bodyPr>
          <a:lstStyle/>
          <a:p>
            <a:r>
              <a:rPr lang="en-US" sz="3200" smtClean="0"/>
              <a:t>Regression means errors that occurs due to some action or activities in a system.</a:t>
            </a:r>
          </a:p>
          <a:p>
            <a:r>
              <a:rPr lang="en-US" sz="3200" smtClean="0"/>
              <a:t>In IT world a “regression” means the return of a bug.</a:t>
            </a:r>
          </a:p>
          <a:p>
            <a:r>
              <a:rPr lang="en-US" sz="3200" smtClean="0"/>
              <a:t>Regression testing means the testing process that is done to find the regressions in the system after doing any changes in the product.</a:t>
            </a:r>
            <a:endParaRPr lang="en-US" sz="3200"/>
          </a:p>
        </p:txBody>
      </p:sp>
      <p:sp>
        <p:nvSpPr>
          <p:cNvPr id="4" name="Slide Number Placeholder 3"/>
          <p:cNvSpPr>
            <a:spLocks noGrp="1"/>
          </p:cNvSpPr>
          <p:nvPr>
            <p:ph type="sldNum" sz="quarter" idx="12"/>
          </p:nvPr>
        </p:nvSpPr>
        <p:spPr/>
        <p:txBody>
          <a:bodyPr/>
          <a:lstStyle/>
          <a:p>
            <a:fld id="{8609F398-C622-4AA7-9AAC-BEB9A4B8EC3D}" type="slidenum">
              <a:rPr lang="en-US" smtClean="0"/>
              <a:t>3</a:t>
            </a:fld>
            <a:endParaRPr lang="en-US"/>
          </a:p>
        </p:txBody>
      </p:sp>
    </p:spTree>
    <p:extLst>
      <p:ext uri="{BB962C8B-B14F-4D97-AF65-F5344CB8AC3E}">
        <p14:creationId xmlns:p14="http://schemas.microsoft.com/office/powerpoint/2010/main" val="85267680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mtClean="0"/>
              <a:t>Regression:</a:t>
            </a:r>
            <a:br>
              <a:rPr lang="en-US" smtClean="0"/>
            </a:br>
            <a:r>
              <a:rPr lang="en-US" smtClean="0"/>
              <a:t>“when you fix one bug, you introduce several newer bugs.”</a:t>
            </a:r>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821338" y="3194458"/>
            <a:ext cx="2480645" cy="3043058"/>
          </a:xfrm>
          <a:prstGeom prst="rect">
            <a:avLst/>
          </a:prstGeom>
        </p:spPr>
      </p:pic>
      <p:pic>
        <p:nvPicPr>
          <p:cNvPr id="5" name="Picture 4"/>
          <p:cNvPicPr>
            <a:picLocks noChangeAspect="1"/>
          </p:cNvPicPr>
          <p:nvPr/>
        </p:nvPicPr>
        <p:blipFill>
          <a:blip r:embed="rId3"/>
          <a:stretch>
            <a:fillRect/>
          </a:stretch>
        </p:blipFill>
        <p:spPr>
          <a:xfrm>
            <a:off x="3558903" y="3200400"/>
            <a:ext cx="2090780" cy="2950540"/>
          </a:xfrm>
          <a:prstGeom prst="rect">
            <a:avLst/>
          </a:prstGeom>
        </p:spPr>
      </p:pic>
      <p:pic>
        <p:nvPicPr>
          <p:cNvPr id="6" name="Picture 5"/>
          <p:cNvPicPr>
            <a:picLocks noChangeAspect="1"/>
          </p:cNvPicPr>
          <p:nvPr/>
        </p:nvPicPr>
        <p:blipFill>
          <a:blip r:embed="rId4"/>
          <a:stretch>
            <a:fillRect/>
          </a:stretch>
        </p:blipFill>
        <p:spPr>
          <a:xfrm>
            <a:off x="6355801" y="3167743"/>
            <a:ext cx="2413179" cy="3059385"/>
          </a:xfrm>
          <a:prstGeom prst="rect">
            <a:avLst/>
          </a:prstGeom>
        </p:spPr>
      </p:pic>
      <p:pic>
        <p:nvPicPr>
          <p:cNvPr id="8" name="Picture 7"/>
          <p:cNvPicPr>
            <a:picLocks noChangeAspect="1"/>
          </p:cNvPicPr>
          <p:nvPr/>
        </p:nvPicPr>
        <p:blipFill>
          <a:blip r:embed="rId5"/>
          <a:stretch>
            <a:fillRect/>
          </a:stretch>
        </p:blipFill>
        <p:spPr>
          <a:xfrm>
            <a:off x="9258300" y="3126201"/>
            <a:ext cx="2188581" cy="2992757"/>
          </a:xfrm>
          <a:prstGeom prst="rect">
            <a:avLst/>
          </a:prstGeom>
        </p:spPr>
      </p:pic>
      <p:sp>
        <p:nvSpPr>
          <p:cNvPr id="9" name="Slide Number Placeholder 8"/>
          <p:cNvSpPr>
            <a:spLocks noGrp="1"/>
          </p:cNvSpPr>
          <p:nvPr>
            <p:ph type="sldNum" sz="quarter" idx="12"/>
          </p:nvPr>
        </p:nvSpPr>
        <p:spPr/>
        <p:txBody>
          <a:bodyPr/>
          <a:lstStyle/>
          <a:p>
            <a:fld id="{8609F398-C622-4AA7-9AAC-BEB9A4B8EC3D}" type="slidenum">
              <a:rPr lang="en-US" smtClean="0"/>
              <a:t>4</a:t>
            </a:fld>
            <a:endParaRPr lang="en-US"/>
          </a:p>
        </p:txBody>
      </p:sp>
    </p:spTree>
    <p:extLst>
      <p:ext uri="{BB962C8B-B14F-4D97-AF65-F5344CB8AC3E}">
        <p14:creationId xmlns:p14="http://schemas.microsoft.com/office/powerpoint/2010/main" val="78378828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When to do it?</a:t>
            </a:r>
            <a:endParaRPr lang="en-US"/>
          </a:p>
        </p:txBody>
      </p:sp>
      <p:sp>
        <p:nvSpPr>
          <p:cNvPr id="3" name="Content Placeholder 2"/>
          <p:cNvSpPr>
            <a:spLocks noGrp="1"/>
          </p:cNvSpPr>
          <p:nvPr>
            <p:ph idx="1"/>
          </p:nvPr>
        </p:nvSpPr>
        <p:spPr/>
        <p:txBody>
          <a:bodyPr>
            <a:normAutofit/>
          </a:bodyPr>
          <a:lstStyle/>
          <a:p>
            <a:pPr marL="0" indent="0">
              <a:buNone/>
            </a:pPr>
            <a:r>
              <a:rPr lang="en-US" sz="3200" smtClean="0"/>
              <a:t>Regression Testing is required when there is a </a:t>
            </a:r>
          </a:p>
          <a:p>
            <a:pPr lvl="1"/>
            <a:r>
              <a:rPr lang="en-US" sz="2800" smtClean="0"/>
              <a:t>Change in requirements and code is modified according to the requirement</a:t>
            </a:r>
          </a:p>
          <a:p>
            <a:pPr lvl="1"/>
            <a:r>
              <a:rPr lang="en-US" sz="2800" smtClean="0"/>
              <a:t>New feature is added to the software</a:t>
            </a:r>
          </a:p>
          <a:p>
            <a:pPr lvl="1"/>
            <a:r>
              <a:rPr lang="en-US" sz="2800" smtClean="0"/>
              <a:t>Defect fixing</a:t>
            </a:r>
          </a:p>
          <a:p>
            <a:pPr lvl="1"/>
            <a:r>
              <a:rPr lang="en-US" sz="2800" smtClean="0"/>
              <a:t>Performance issue fix</a:t>
            </a:r>
            <a:endParaRPr lang="en-US" sz="2800"/>
          </a:p>
        </p:txBody>
      </p:sp>
      <p:sp>
        <p:nvSpPr>
          <p:cNvPr id="4" name="Slide Number Placeholder 3"/>
          <p:cNvSpPr>
            <a:spLocks noGrp="1"/>
          </p:cNvSpPr>
          <p:nvPr>
            <p:ph type="sldNum" sz="quarter" idx="12"/>
          </p:nvPr>
        </p:nvSpPr>
        <p:spPr/>
        <p:txBody>
          <a:bodyPr/>
          <a:lstStyle/>
          <a:p>
            <a:fld id="{8609F398-C622-4AA7-9AAC-BEB9A4B8EC3D}" type="slidenum">
              <a:rPr lang="en-US" smtClean="0"/>
              <a:t>5</a:t>
            </a:fld>
            <a:endParaRPr lang="en-US"/>
          </a:p>
        </p:txBody>
      </p:sp>
    </p:spTree>
    <p:extLst>
      <p:ext uri="{BB962C8B-B14F-4D97-AF65-F5344CB8AC3E}">
        <p14:creationId xmlns:p14="http://schemas.microsoft.com/office/powerpoint/2010/main" val="246442095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What’s the strategy?</a:t>
            </a:r>
            <a:endParaRPr lang="en-US"/>
          </a:p>
        </p:txBody>
      </p:sp>
      <p:sp>
        <p:nvSpPr>
          <p:cNvPr id="3" name="Content Placeholder 2"/>
          <p:cNvSpPr>
            <a:spLocks noGrp="1"/>
          </p:cNvSpPr>
          <p:nvPr>
            <p:ph idx="1"/>
          </p:nvPr>
        </p:nvSpPr>
        <p:spPr>
          <a:xfrm>
            <a:off x="838200" y="1825625"/>
            <a:ext cx="5052237" cy="4351338"/>
          </a:xfrm>
        </p:spPr>
        <p:txBody>
          <a:bodyPr/>
          <a:lstStyle/>
          <a:p>
            <a:r>
              <a:rPr lang="en-US" smtClean="0"/>
              <a:t>Software maintemance is an activity which includes enhancements, error corrections, optimization and deletion of existing features. These modifications may cause the system to work incorrectly. Therefore, regression testing can be carried out using following techniques:</a:t>
            </a:r>
          </a:p>
          <a:p>
            <a:endParaRPr lang="en-US"/>
          </a:p>
        </p:txBody>
      </p:sp>
      <p:grpSp>
        <p:nvGrpSpPr>
          <p:cNvPr id="21" name="Group 20"/>
          <p:cNvGrpSpPr/>
          <p:nvPr/>
        </p:nvGrpSpPr>
        <p:grpSpPr>
          <a:xfrm>
            <a:off x="6591869" y="1681397"/>
            <a:ext cx="5117910" cy="3725205"/>
            <a:chOff x="6591869" y="1681397"/>
            <a:chExt cx="5117910" cy="3725205"/>
          </a:xfrm>
        </p:grpSpPr>
        <p:sp>
          <p:nvSpPr>
            <p:cNvPr id="5" name="Rounded Rectangle 4"/>
            <p:cNvSpPr/>
            <p:nvPr/>
          </p:nvSpPr>
          <p:spPr>
            <a:xfrm>
              <a:off x="6591869" y="3008326"/>
              <a:ext cx="1978926" cy="1034321"/>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800" smtClean="0">
                  <a:solidFill>
                    <a:schemeClr val="tx1"/>
                  </a:solidFill>
                </a:rPr>
                <a:t>Regression Testing</a:t>
              </a:r>
              <a:endParaRPr lang="en-US"/>
            </a:p>
          </p:txBody>
        </p:sp>
        <p:grpSp>
          <p:nvGrpSpPr>
            <p:cNvPr id="20" name="Group 19"/>
            <p:cNvGrpSpPr/>
            <p:nvPr/>
          </p:nvGrpSpPr>
          <p:grpSpPr>
            <a:xfrm>
              <a:off x="8557146" y="1681397"/>
              <a:ext cx="3152633" cy="3725205"/>
              <a:chOff x="8557146" y="1681397"/>
              <a:chExt cx="3152633" cy="3725205"/>
            </a:xfrm>
          </p:grpSpPr>
          <p:sp>
            <p:nvSpPr>
              <p:cNvPr id="9" name="Rounded Rectangle 8"/>
              <p:cNvSpPr/>
              <p:nvPr/>
            </p:nvSpPr>
            <p:spPr>
              <a:xfrm>
                <a:off x="9161489" y="1681397"/>
                <a:ext cx="2520995" cy="1034321"/>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800" smtClean="0">
                    <a:solidFill>
                      <a:schemeClr val="tx1"/>
                    </a:solidFill>
                  </a:rPr>
                  <a:t>Retest All</a:t>
                </a:r>
                <a:endParaRPr lang="en-US"/>
              </a:p>
            </p:txBody>
          </p:sp>
          <p:sp>
            <p:nvSpPr>
              <p:cNvPr id="10" name="Rounded Rectangle 9"/>
              <p:cNvSpPr/>
              <p:nvPr/>
            </p:nvSpPr>
            <p:spPr>
              <a:xfrm>
                <a:off x="9191059" y="3007504"/>
                <a:ext cx="2518720" cy="1034321"/>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800" smtClean="0">
                    <a:solidFill>
                      <a:schemeClr val="tx1"/>
                    </a:solidFill>
                  </a:rPr>
                  <a:t>Regression Test Selection</a:t>
                </a:r>
                <a:endParaRPr lang="en-US"/>
              </a:p>
            </p:txBody>
          </p:sp>
          <p:sp>
            <p:nvSpPr>
              <p:cNvPr id="11" name="Rounded Rectangle 10"/>
              <p:cNvSpPr/>
              <p:nvPr/>
            </p:nvSpPr>
            <p:spPr>
              <a:xfrm>
                <a:off x="9163763" y="4372281"/>
                <a:ext cx="2477777" cy="1034321"/>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800" smtClean="0">
                    <a:solidFill>
                      <a:schemeClr val="tx1"/>
                    </a:solidFill>
                  </a:rPr>
                  <a:t>Prioritization of Test Cases</a:t>
                </a:r>
                <a:endParaRPr lang="en-US"/>
              </a:p>
            </p:txBody>
          </p:sp>
          <p:grpSp>
            <p:nvGrpSpPr>
              <p:cNvPr id="19" name="Group 18"/>
              <p:cNvGrpSpPr/>
              <p:nvPr/>
            </p:nvGrpSpPr>
            <p:grpSpPr>
              <a:xfrm>
                <a:off x="8557146" y="2333767"/>
                <a:ext cx="616425" cy="2449588"/>
                <a:chOff x="8557146" y="2333767"/>
                <a:chExt cx="616425" cy="2449588"/>
              </a:xfrm>
            </p:grpSpPr>
            <p:cxnSp>
              <p:nvCxnSpPr>
                <p:cNvPr id="13" name="Straight Connector 12"/>
                <p:cNvCxnSpPr/>
                <p:nvPr/>
              </p:nvCxnSpPr>
              <p:spPr>
                <a:xfrm flipV="1">
                  <a:off x="8557146" y="2333767"/>
                  <a:ext cx="614150" cy="1232663"/>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8573069" y="3562066"/>
                  <a:ext cx="59822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8559421" y="3550692"/>
                  <a:ext cx="614150" cy="1232663"/>
                </a:xfrm>
                <a:prstGeom prst="line">
                  <a:avLst/>
                </a:prstGeom>
              </p:spPr>
              <p:style>
                <a:lnRef idx="1">
                  <a:schemeClr val="accent1"/>
                </a:lnRef>
                <a:fillRef idx="0">
                  <a:schemeClr val="accent1"/>
                </a:fillRef>
                <a:effectRef idx="0">
                  <a:schemeClr val="accent1"/>
                </a:effectRef>
                <a:fontRef idx="minor">
                  <a:schemeClr val="tx1"/>
                </a:fontRef>
              </p:style>
            </p:cxnSp>
          </p:grpSp>
        </p:grpSp>
      </p:grpSp>
      <p:sp>
        <p:nvSpPr>
          <p:cNvPr id="22" name="Slide Number Placeholder 21"/>
          <p:cNvSpPr>
            <a:spLocks noGrp="1"/>
          </p:cNvSpPr>
          <p:nvPr>
            <p:ph type="sldNum" sz="quarter" idx="12"/>
          </p:nvPr>
        </p:nvSpPr>
        <p:spPr/>
        <p:txBody>
          <a:bodyPr/>
          <a:lstStyle/>
          <a:p>
            <a:fld id="{8609F398-C622-4AA7-9AAC-BEB9A4B8EC3D}" type="slidenum">
              <a:rPr lang="en-US" smtClean="0"/>
              <a:t>6</a:t>
            </a:fld>
            <a:endParaRPr lang="en-US"/>
          </a:p>
        </p:txBody>
      </p:sp>
    </p:spTree>
    <p:extLst>
      <p:ext uri="{BB962C8B-B14F-4D97-AF65-F5344CB8AC3E}">
        <p14:creationId xmlns:p14="http://schemas.microsoft.com/office/powerpoint/2010/main" val="245617666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What’s the strategy?</a:t>
            </a:r>
            <a:endParaRPr lang="en-US"/>
          </a:p>
        </p:txBody>
      </p:sp>
      <p:sp>
        <p:nvSpPr>
          <p:cNvPr id="3" name="Content Placeholder 2"/>
          <p:cNvSpPr>
            <a:spLocks noGrp="1"/>
          </p:cNvSpPr>
          <p:nvPr>
            <p:ph idx="1"/>
          </p:nvPr>
        </p:nvSpPr>
        <p:spPr/>
        <p:txBody>
          <a:bodyPr/>
          <a:lstStyle/>
          <a:p>
            <a:r>
              <a:rPr lang="en-US"/>
              <a:t>Reset </a:t>
            </a:r>
            <a:r>
              <a:rPr lang="en-US"/>
              <a:t>all </a:t>
            </a:r>
            <a:endParaRPr lang="en-US" smtClean="0"/>
          </a:p>
          <a:p>
            <a:pPr lvl="1">
              <a:buFont typeface="Courier New" panose="02070309020205020404" pitchFamily="49" charset="0"/>
              <a:buChar char="o"/>
            </a:pPr>
            <a:r>
              <a:rPr lang="en-US" smtClean="0"/>
              <a:t>This </a:t>
            </a:r>
            <a:r>
              <a:rPr lang="en-US"/>
              <a:t>is one of the methods for regressiontesting in which all the tests in the existing </a:t>
            </a:r>
            <a:r>
              <a:rPr lang="en-US"/>
              <a:t>test </a:t>
            </a:r>
            <a:r>
              <a:rPr lang="en-US" smtClean="0"/>
              <a:t>bucket or </a:t>
            </a:r>
            <a:r>
              <a:rPr lang="en-US"/>
              <a:t>suite should be re-executed. This is very expensiveas it requires huge time and resources.</a:t>
            </a:r>
          </a:p>
        </p:txBody>
      </p:sp>
      <p:sp>
        <p:nvSpPr>
          <p:cNvPr id="4" name="Slide Number Placeholder 3"/>
          <p:cNvSpPr>
            <a:spLocks noGrp="1"/>
          </p:cNvSpPr>
          <p:nvPr>
            <p:ph type="sldNum" sz="quarter" idx="12"/>
          </p:nvPr>
        </p:nvSpPr>
        <p:spPr/>
        <p:txBody>
          <a:bodyPr/>
          <a:lstStyle/>
          <a:p>
            <a:fld id="{8609F398-C622-4AA7-9AAC-BEB9A4B8EC3D}" type="slidenum">
              <a:rPr lang="en-US" smtClean="0"/>
              <a:t>7</a:t>
            </a:fld>
            <a:endParaRPr lang="en-US"/>
          </a:p>
        </p:txBody>
      </p:sp>
    </p:spTree>
    <p:extLst>
      <p:ext uri="{BB962C8B-B14F-4D97-AF65-F5344CB8AC3E}">
        <p14:creationId xmlns:p14="http://schemas.microsoft.com/office/powerpoint/2010/main" val="339799958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What’s the strategy? (cont.)</a:t>
            </a:r>
            <a:endParaRPr lang="en-US"/>
          </a:p>
        </p:txBody>
      </p:sp>
      <p:sp>
        <p:nvSpPr>
          <p:cNvPr id="3" name="Content Placeholder 2"/>
          <p:cNvSpPr>
            <a:spLocks noGrp="1"/>
          </p:cNvSpPr>
          <p:nvPr>
            <p:ph idx="1"/>
          </p:nvPr>
        </p:nvSpPr>
        <p:spPr/>
        <p:txBody>
          <a:bodyPr/>
          <a:lstStyle/>
          <a:p>
            <a:r>
              <a:rPr lang="en-US" smtClean="0"/>
              <a:t>Regression </a:t>
            </a:r>
            <a:r>
              <a:rPr lang="en-US"/>
              <a:t>Test </a:t>
            </a:r>
            <a:r>
              <a:rPr lang="en-US" smtClean="0"/>
              <a:t>Selection</a:t>
            </a:r>
            <a:endParaRPr lang="en-US"/>
          </a:p>
          <a:p>
            <a:pPr lvl="1">
              <a:buFont typeface="Courier New" panose="02070309020205020404" pitchFamily="49" charset="0"/>
              <a:buChar char="o"/>
            </a:pPr>
            <a:r>
              <a:rPr lang="en-US" smtClean="0"/>
              <a:t>Instead </a:t>
            </a:r>
            <a:r>
              <a:rPr lang="en-US"/>
              <a:t>of re-executing the entire test suite, </a:t>
            </a:r>
            <a:r>
              <a:rPr lang="en-US"/>
              <a:t>it </a:t>
            </a:r>
            <a:r>
              <a:rPr lang="en-US" smtClean="0"/>
              <a:t>is better </a:t>
            </a:r>
            <a:r>
              <a:rPr lang="en-US"/>
              <a:t>to select part of test suite to </a:t>
            </a:r>
            <a:r>
              <a:rPr lang="en-US"/>
              <a:t>be </a:t>
            </a:r>
            <a:r>
              <a:rPr lang="en-US" smtClean="0"/>
              <a:t>run.</a:t>
            </a:r>
            <a:endParaRPr lang="en-US"/>
          </a:p>
          <a:p>
            <a:pPr lvl="1">
              <a:buFont typeface="Courier New" panose="02070309020205020404" pitchFamily="49" charset="0"/>
              <a:buChar char="o"/>
            </a:pPr>
            <a:r>
              <a:rPr lang="en-US" smtClean="0"/>
              <a:t>Test </a:t>
            </a:r>
            <a:r>
              <a:rPr lang="en-US"/>
              <a:t>cases selected can be categorized as 1) ReusableTest Cases 2) Obsolete </a:t>
            </a:r>
            <a:r>
              <a:rPr lang="en-US"/>
              <a:t>Test </a:t>
            </a:r>
            <a:r>
              <a:rPr lang="en-US" smtClean="0"/>
              <a:t>Cases.</a:t>
            </a:r>
            <a:endParaRPr lang="en-US"/>
          </a:p>
          <a:p>
            <a:pPr lvl="1">
              <a:buFont typeface="Courier New" panose="02070309020205020404" pitchFamily="49" charset="0"/>
              <a:buChar char="o"/>
            </a:pPr>
            <a:r>
              <a:rPr lang="en-US" smtClean="0"/>
              <a:t>Re-usable </a:t>
            </a:r>
            <a:r>
              <a:rPr lang="en-US"/>
              <a:t>Test cases can be used </a:t>
            </a:r>
            <a:r>
              <a:rPr lang="en-US"/>
              <a:t>in </a:t>
            </a:r>
            <a:r>
              <a:rPr lang="en-US" smtClean="0"/>
              <a:t>succeeding regression </a:t>
            </a:r>
            <a:r>
              <a:rPr lang="en-US"/>
              <a:t>cycles. Obsolete Test Cases can’t be usedin succeeding cycles.</a:t>
            </a:r>
          </a:p>
        </p:txBody>
      </p:sp>
      <p:sp>
        <p:nvSpPr>
          <p:cNvPr id="4" name="Slide Number Placeholder 3"/>
          <p:cNvSpPr>
            <a:spLocks noGrp="1"/>
          </p:cNvSpPr>
          <p:nvPr>
            <p:ph type="sldNum" sz="quarter" idx="12"/>
          </p:nvPr>
        </p:nvSpPr>
        <p:spPr/>
        <p:txBody>
          <a:bodyPr/>
          <a:lstStyle/>
          <a:p>
            <a:fld id="{8609F398-C622-4AA7-9AAC-BEB9A4B8EC3D}" type="slidenum">
              <a:rPr lang="en-US" smtClean="0"/>
              <a:t>8</a:t>
            </a:fld>
            <a:endParaRPr lang="en-US"/>
          </a:p>
        </p:txBody>
      </p:sp>
    </p:spTree>
    <p:extLst>
      <p:ext uri="{BB962C8B-B14F-4D97-AF65-F5344CB8AC3E}">
        <p14:creationId xmlns:p14="http://schemas.microsoft.com/office/powerpoint/2010/main" val="193386668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What’s the strategy? (cont.)</a:t>
            </a:r>
            <a:endParaRPr lang="en-US"/>
          </a:p>
        </p:txBody>
      </p:sp>
      <p:sp>
        <p:nvSpPr>
          <p:cNvPr id="3" name="Content Placeholder 2"/>
          <p:cNvSpPr>
            <a:spLocks noGrp="1"/>
          </p:cNvSpPr>
          <p:nvPr>
            <p:ph idx="1"/>
          </p:nvPr>
        </p:nvSpPr>
        <p:spPr/>
        <p:txBody>
          <a:bodyPr/>
          <a:lstStyle/>
          <a:p>
            <a:r>
              <a:rPr lang="en-US" smtClean="0"/>
              <a:t>Prioritization </a:t>
            </a:r>
            <a:r>
              <a:rPr lang="en-US"/>
              <a:t>of </a:t>
            </a:r>
            <a:r>
              <a:rPr lang="en-US"/>
              <a:t>Test </a:t>
            </a:r>
            <a:r>
              <a:rPr lang="en-US" smtClean="0"/>
              <a:t>Cases</a:t>
            </a:r>
          </a:p>
          <a:p>
            <a:pPr lvl="1">
              <a:buFont typeface="Courier New" panose="02070309020205020404" pitchFamily="49" charset="0"/>
              <a:buChar char="o"/>
            </a:pPr>
            <a:r>
              <a:rPr lang="en-US" smtClean="0"/>
              <a:t>Prioritize </a:t>
            </a:r>
            <a:r>
              <a:rPr lang="en-US"/>
              <a:t>the test cases depending onbusiness impact, critical &amp; frequently usedfunctionalities . Selection of test cases basedon priority will greatly reduce the regressiontest suite.</a:t>
            </a:r>
          </a:p>
        </p:txBody>
      </p:sp>
      <p:sp>
        <p:nvSpPr>
          <p:cNvPr id="4" name="Slide Number Placeholder 3"/>
          <p:cNvSpPr>
            <a:spLocks noGrp="1"/>
          </p:cNvSpPr>
          <p:nvPr>
            <p:ph type="sldNum" sz="quarter" idx="12"/>
          </p:nvPr>
        </p:nvSpPr>
        <p:spPr/>
        <p:txBody>
          <a:bodyPr/>
          <a:lstStyle/>
          <a:p>
            <a:fld id="{8609F398-C622-4AA7-9AAC-BEB9A4B8EC3D}" type="slidenum">
              <a:rPr lang="en-US" smtClean="0"/>
              <a:t>9</a:t>
            </a:fld>
            <a:endParaRPr lang="en-US"/>
          </a:p>
        </p:txBody>
      </p:sp>
    </p:spTree>
    <p:extLst>
      <p:ext uri="{BB962C8B-B14F-4D97-AF65-F5344CB8AC3E}">
        <p14:creationId xmlns:p14="http://schemas.microsoft.com/office/powerpoint/2010/main" val="371914634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What’s the strategy? (cont.)</a:t>
            </a:r>
            <a:endParaRPr lang="en-US"/>
          </a:p>
        </p:txBody>
      </p:sp>
      <p:sp>
        <p:nvSpPr>
          <p:cNvPr id="3" name="Content Placeholder 2"/>
          <p:cNvSpPr>
            <a:spLocks noGrp="1"/>
          </p:cNvSpPr>
          <p:nvPr>
            <p:ph idx="1"/>
          </p:nvPr>
        </p:nvSpPr>
        <p:spPr/>
        <p:txBody>
          <a:bodyPr>
            <a:normAutofit/>
          </a:bodyPr>
          <a:lstStyle/>
          <a:p>
            <a:r>
              <a:rPr lang="en-US" smtClean="0"/>
              <a:t>Area to focus during testing</a:t>
            </a:r>
          </a:p>
          <a:p>
            <a:pPr lvl="1">
              <a:buFont typeface="Courier New" panose="02070309020205020404" pitchFamily="49" charset="0"/>
              <a:buChar char="o"/>
            </a:pPr>
            <a:r>
              <a:rPr lang="en-US" smtClean="0"/>
              <a:t>Test cases which have frequent defects.</a:t>
            </a:r>
          </a:p>
          <a:p>
            <a:pPr lvl="1">
              <a:buFont typeface="Courier New" panose="02070309020205020404" pitchFamily="49" charset="0"/>
              <a:buChar char="o"/>
            </a:pPr>
            <a:r>
              <a:rPr lang="en-US" smtClean="0"/>
              <a:t>Functionalities which are more visible to the users.</a:t>
            </a:r>
          </a:p>
          <a:p>
            <a:pPr lvl="1">
              <a:buFont typeface="Courier New" panose="02070309020205020404" pitchFamily="49" charset="0"/>
              <a:buChar char="o"/>
            </a:pPr>
            <a:r>
              <a:rPr lang="en-US" smtClean="0"/>
              <a:t>Test cases which verify core features of the product.</a:t>
            </a:r>
          </a:p>
          <a:p>
            <a:pPr lvl="1">
              <a:buFont typeface="Courier New" panose="02070309020205020404" pitchFamily="49" charset="0"/>
              <a:buChar char="o"/>
            </a:pPr>
            <a:r>
              <a:rPr lang="en-US" smtClean="0"/>
              <a:t>Test cases of Functionalities which has undergone more andrecent changes.</a:t>
            </a:r>
          </a:p>
          <a:p>
            <a:pPr lvl="1">
              <a:buFont typeface="Courier New" panose="02070309020205020404" pitchFamily="49" charset="0"/>
              <a:buChar char="o"/>
            </a:pPr>
            <a:r>
              <a:rPr lang="en-US" smtClean="0"/>
              <a:t>All Integration Test Cases.</a:t>
            </a:r>
          </a:p>
          <a:p>
            <a:pPr lvl="1">
              <a:buFont typeface="Courier New" panose="02070309020205020404" pitchFamily="49" charset="0"/>
              <a:buChar char="o"/>
            </a:pPr>
            <a:r>
              <a:rPr lang="en-US" smtClean="0"/>
              <a:t>All Complex Test Cases.</a:t>
            </a:r>
          </a:p>
          <a:p>
            <a:pPr lvl="1">
              <a:buFont typeface="Courier New" panose="02070309020205020404" pitchFamily="49" charset="0"/>
              <a:buChar char="o"/>
            </a:pPr>
            <a:r>
              <a:rPr lang="en-US" smtClean="0"/>
              <a:t>Boundary value test cases.</a:t>
            </a:r>
          </a:p>
          <a:p>
            <a:pPr lvl="1">
              <a:buFont typeface="Courier New" panose="02070309020205020404" pitchFamily="49" charset="0"/>
              <a:buChar char="o"/>
            </a:pPr>
            <a:r>
              <a:rPr lang="en-US" smtClean="0"/>
              <a:t>Sample of Successful test cases.</a:t>
            </a:r>
          </a:p>
          <a:p>
            <a:pPr lvl="1">
              <a:buFont typeface="Courier New" panose="02070309020205020404" pitchFamily="49" charset="0"/>
              <a:buChar char="o"/>
            </a:pPr>
            <a:r>
              <a:rPr lang="en-US" smtClean="0"/>
              <a:t>Sample of Failure test cases</a:t>
            </a:r>
            <a:endParaRPr lang="en-US"/>
          </a:p>
        </p:txBody>
      </p:sp>
      <p:sp>
        <p:nvSpPr>
          <p:cNvPr id="4" name="Slide Number Placeholder 3"/>
          <p:cNvSpPr>
            <a:spLocks noGrp="1"/>
          </p:cNvSpPr>
          <p:nvPr>
            <p:ph type="sldNum" sz="quarter" idx="12"/>
          </p:nvPr>
        </p:nvSpPr>
        <p:spPr/>
        <p:txBody>
          <a:bodyPr/>
          <a:lstStyle/>
          <a:p>
            <a:fld id="{8609F398-C622-4AA7-9AAC-BEB9A4B8EC3D}" type="slidenum">
              <a:rPr lang="en-US" smtClean="0"/>
              <a:t>10</a:t>
            </a:fld>
            <a:endParaRPr lang="en-US"/>
          </a:p>
        </p:txBody>
      </p:sp>
    </p:spTree>
    <p:extLst>
      <p:ext uri="{BB962C8B-B14F-4D97-AF65-F5344CB8AC3E}">
        <p14:creationId xmlns:p14="http://schemas.microsoft.com/office/powerpoint/2010/main" val="97917069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Pros and Cons</a:t>
            </a:r>
            <a:endParaRPr lang="en-US"/>
          </a:p>
        </p:txBody>
      </p:sp>
      <p:sp>
        <p:nvSpPr>
          <p:cNvPr id="3" name="Content Placeholder 2"/>
          <p:cNvSpPr>
            <a:spLocks noGrp="1"/>
          </p:cNvSpPr>
          <p:nvPr>
            <p:ph idx="1"/>
          </p:nvPr>
        </p:nvSpPr>
        <p:spPr/>
        <p:txBody>
          <a:bodyPr/>
          <a:lstStyle/>
          <a:p>
            <a:r>
              <a:rPr lang="en-US"/>
              <a:t> Challenges for </a:t>
            </a:r>
            <a:r>
              <a:rPr lang="en-US"/>
              <a:t>regression </a:t>
            </a:r>
            <a:r>
              <a:rPr lang="en-US" smtClean="0"/>
              <a:t>testing</a:t>
            </a:r>
          </a:p>
          <a:p>
            <a:pPr lvl="1">
              <a:buFont typeface="Courier New" panose="02070309020205020404" pitchFamily="49" charset="0"/>
              <a:buChar char="o"/>
            </a:pPr>
            <a:r>
              <a:rPr lang="en-US" smtClean="0"/>
              <a:t>With </a:t>
            </a:r>
            <a:r>
              <a:rPr lang="en-US"/>
              <a:t>successive regression runs, test </a:t>
            </a:r>
            <a:r>
              <a:rPr lang="en-US"/>
              <a:t>suites </a:t>
            </a:r>
            <a:r>
              <a:rPr lang="en-US" smtClean="0"/>
              <a:t> large</a:t>
            </a:r>
            <a:r>
              <a:rPr lang="en-US"/>
              <a:t>. Due to time and budget constraints</a:t>
            </a:r>
            <a:r>
              <a:rPr lang="en-US"/>
              <a:t>, </a:t>
            </a:r>
            <a:r>
              <a:rPr lang="en-US" smtClean="0"/>
              <a:t>the entire </a:t>
            </a:r>
            <a:r>
              <a:rPr lang="en-US"/>
              <a:t>regression test suite cannot </a:t>
            </a:r>
            <a:r>
              <a:rPr lang="en-US"/>
              <a:t>be </a:t>
            </a:r>
            <a:r>
              <a:rPr lang="en-US" smtClean="0"/>
              <a:t>executed.</a:t>
            </a:r>
          </a:p>
          <a:p>
            <a:pPr lvl="1">
              <a:buFont typeface="Courier New" panose="02070309020205020404" pitchFamily="49" charset="0"/>
              <a:buChar char="o"/>
            </a:pPr>
            <a:r>
              <a:rPr lang="en-US" smtClean="0"/>
              <a:t>Minimizing </a:t>
            </a:r>
            <a:r>
              <a:rPr lang="en-US"/>
              <a:t>test suite while achieving maximumtest coverage remains </a:t>
            </a:r>
            <a:r>
              <a:rPr lang="en-US"/>
              <a:t>a </a:t>
            </a:r>
            <a:r>
              <a:rPr lang="en-US" smtClean="0"/>
              <a:t>challenge.</a:t>
            </a:r>
          </a:p>
          <a:p>
            <a:pPr lvl="1">
              <a:buFont typeface="Courier New" panose="02070309020205020404" pitchFamily="49" charset="0"/>
              <a:buChar char="o"/>
            </a:pPr>
            <a:r>
              <a:rPr lang="en-US" smtClean="0"/>
              <a:t>Determination </a:t>
            </a:r>
            <a:r>
              <a:rPr lang="en-US"/>
              <a:t>of frequency of Regression Tests, i.e., after every modification or every build updateor after a bunch of bug fixes, is a challenge</a:t>
            </a:r>
          </a:p>
        </p:txBody>
      </p:sp>
      <p:sp>
        <p:nvSpPr>
          <p:cNvPr id="4" name="Slide Number Placeholder 3"/>
          <p:cNvSpPr>
            <a:spLocks noGrp="1"/>
          </p:cNvSpPr>
          <p:nvPr>
            <p:ph type="sldNum" sz="quarter" idx="12"/>
          </p:nvPr>
        </p:nvSpPr>
        <p:spPr/>
        <p:txBody>
          <a:bodyPr/>
          <a:lstStyle/>
          <a:p>
            <a:fld id="{8609F398-C622-4AA7-9AAC-BEB9A4B8EC3D}" type="slidenum">
              <a:rPr lang="en-US" smtClean="0"/>
              <a:t>11</a:t>
            </a:fld>
            <a:endParaRPr lang="en-US"/>
          </a:p>
        </p:txBody>
      </p:sp>
    </p:spTree>
    <p:extLst>
      <p:ext uri="{BB962C8B-B14F-4D97-AF65-F5344CB8AC3E}">
        <p14:creationId xmlns:p14="http://schemas.microsoft.com/office/powerpoint/2010/main" val="13449002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Pros and Cons (cont.)</a:t>
            </a:r>
            <a:endParaRPr lang="en-US"/>
          </a:p>
        </p:txBody>
      </p:sp>
      <p:sp>
        <p:nvSpPr>
          <p:cNvPr id="3" name="Content Placeholder 2"/>
          <p:cNvSpPr>
            <a:spLocks noGrp="1"/>
          </p:cNvSpPr>
          <p:nvPr>
            <p:ph idx="1"/>
          </p:nvPr>
        </p:nvSpPr>
        <p:spPr/>
        <p:txBody>
          <a:bodyPr/>
          <a:lstStyle/>
          <a:p>
            <a:r>
              <a:rPr lang="en-US" smtClean="0"/>
              <a:t>To </a:t>
            </a:r>
            <a:r>
              <a:rPr lang="en-US"/>
              <a:t>ensure effective regression tests , </a:t>
            </a:r>
            <a:r>
              <a:rPr lang="en-US"/>
              <a:t>observe </a:t>
            </a:r>
            <a:r>
              <a:rPr lang="en-US" smtClean="0"/>
              <a:t>the following :</a:t>
            </a:r>
            <a:endParaRPr lang="en-US"/>
          </a:p>
          <a:p>
            <a:pPr lvl="1">
              <a:buFont typeface="Courier New" panose="02070309020205020404" pitchFamily="49" charset="0"/>
              <a:buChar char="o"/>
            </a:pPr>
            <a:r>
              <a:rPr lang="en-US" smtClean="0"/>
              <a:t>Code </a:t>
            </a:r>
            <a:r>
              <a:rPr lang="en-US"/>
              <a:t>being regression tested should be </a:t>
            </a:r>
            <a:r>
              <a:rPr lang="en-US"/>
              <a:t>under </a:t>
            </a:r>
            <a:r>
              <a:rPr lang="en-US" smtClean="0"/>
              <a:t>a configuration </a:t>
            </a:r>
            <a:r>
              <a:rPr lang="en-US"/>
              <a:t>management </a:t>
            </a:r>
            <a:r>
              <a:rPr lang="en-US" smtClean="0"/>
              <a:t>tool.</a:t>
            </a:r>
            <a:endParaRPr lang="en-US"/>
          </a:p>
          <a:p>
            <a:pPr lvl="1">
              <a:buFont typeface="Courier New" panose="02070309020205020404" pitchFamily="49" charset="0"/>
              <a:buChar char="o"/>
            </a:pPr>
            <a:r>
              <a:rPr lang="en-US" smtClean="0"/>
              <a:t>No </a:t>
            </a:r>
            <a:r>
              <a:rPr lang="en-US"/>
              <a:t>changes must be allowed to code , </a:t>
            </a:r>
            <a:r>
              <a:rPr lang="en-US"/>
              <a:t>during </a:t>
            </a:r>
            <a:r>
              <a:rPr lang="en-US" smtClean="0"/>
              <a:t>the regression </a:t>
            </a:r>
            <a:r>
              <a:rPr lang="en-US"/>
              <a:t>test phase. Regression test code must bekept immune to </a:t>
            </a:r>
            <a:r>
              <a:rPr lang="en-US"/>
              <a:t>developer </a:t>
            </a:r>
            <a:r>
              <a:rPr lang="en-US" smtClean="0"/>
              <a:t>changes.</a:t>
            </a:r>
            <a:endParaRPr lang="en-US"/>
          </a:p>
          <a:p>
            <a:pPr lvl="1">
              <a:buFont typeface="Courier New" panose="02070309020205020404" pitchFamily="49" charset="0"/>
              <a:buChar char="o"/>
            </a:pPr>
            <a:r>
              <a:rPr lang="en-US" smtClean="0"/>
              <a:t>The </a:t>
            </a:r>
            <a:r>
              <a:rPr lang="en-US"/>
              <a:t>database used for regression testing </a:t>
            </a:r>
            <a:r>
              <a:rPr lang="en-US"/>
              <a:t>must </a:t>
            </a:r>
            <a:r>
              <a:rPr lang="en-US" smtClean="0"/>
              <a:t>be isolated </a:t>
            </a:r>
            <a:r>
              <a:rPr lang="en-US"/>
              <a:t>. No database changes must </a:t>
            </a:r>
            <a:r>
              <a:rPr lang="en-US"/>
              <a:t>be </a:t>
            </a:r>
            <a:r>
              <a:rPr lang="en-US" smtClean="0"/>
              <a:t>allowed.</a:t>
            </a:r>
            <a:endParaRPr lang="en-US"/>
          </a:p>
        </p:txBody>
      </p:sp>
      <p:sp>
        <p:nvSpPr>
          <p:cNvPr id="4" name="Slide Number Placeholder 3"/>
          <p:cNvSpPr>
            <a:spLocks noGrp="1"/>
          </p:cNvSpPr>
          <p:nvPr>
            <p:ph type="sldNum" sz="quarter" idx="12"/>
          </p:nvPr>
        </p:nvSpPr>
        <p:spPr/>
        <p:txBody>
          <a:bodyPr/>
          <a:lstStyle/>
          <a:p>
            <a:fld id="{8609F398-C622-4AA7-9AAC-BEB9A4B8EC3D}" type="slidenum">
              <a:rPr lang="en-US" smtClean="0"/>
              <a:t>12</a:t>
            </a:fld>
            <a:endParaRPr lang="en-US"/>
          </a:p>
        </p:txBody>
      </p:sp>
    </p:spTree>
    <p:extLst>
      <p:ext uri="{BB962C8B-B14F-4D97-AF65-F5344CB8AC3E}">
        <p14:creationId xmlns:p14="http://schemas.microsoft.com/office/powerpoint/2010/main" val="180383059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smtClean="0"/>
              <a:t>Conclusion</a:t>
            </a:r>
            <a:endParaRPr lang="en-US" b="1"/>
          </a:p>
        </p:txBody>
      </p:sp>
      <p:sp>
        <p:nvSpPr>
          <p:cNvPr id="3" name="Content Placeholder 2"/>
          <p:cNvSpPr>
            <a:spLocks noGrp="1"/>
          </p:cNvSpPr>
          <p:nvPr>
            <p:ph idx="1"/>
          </p:nvPr>
        </p:nvSpPr>
        <p:spPr/>
        <p:txBody>
          <a:bodyPr/>
          <a:lstStyle/>
          <a:p>
            <a:r>
              <a:rPr lang="en-US" smtClean="0"/>
              <a:t>An effective regression strategy, save organizations both time and money. But in current time it more refers to the term Automate.</a:t>
            </a:r>
          </a:p>
          <a:p>
            <a:r>
              <a:rPr lang="en-US" smtClean="0"/>
              <a:t>Following are most important tools used for both functional and regression testing:</a:t>
            </a:r>
          </a:p>
          <a:p>
            <a:pPr lvl="1"/>
            <a:r>
              <a:rPr lang="en-US" smtClean="0"/>
              <a:t>Quick Test Professional (QTP)</a:t>
            </a:r>
          </a:p>
          <a:p>
            <a:pPr lvl="1"/>
            <a:r>
              <a:rPr lang="en-US" smtClean="0"/>
              <a:t>Rational Functional Tester (RFT)</a:t>
            </a:r>
          </a:p>
          <a:p>
            <a:pPr lvl="1"/>
            <a:r>
              <a:rPr lang="en-US" smtClean="0"/>
              <a:t>Selenium</a:t>
            </a:r>
            <a:endParaRPr lang="en-US"/>
          </a:p>
        </p:txBody>
      </p:sp>
      <p:sp>
        <p:nvSpPr>
          <p:cNvPr id="4" name="Slide Number Placeholder 3"/>
          <p:cNvSpPr>
            <a:spLocks noGrp="1"/>
          </p:cNvSpPr>
          <p:nvPr>
            <p:ph type="sldNum" sz="quarter" idx="12"/>
          </p:nvPr>
        </p:nvSpPr>
        <p:spPr/>
        <p:txBody>
          <a:bodyPr/>
          <a:lstStyle/>
          <a:p>
            <a:fld id="{8609F398-C622-4AA7-9AAC-BEB9A4B8EC3D}" type="slidenum">
              <a:rPr lang="en-US" smtClean="0"/>
              <a:t>13</a:t>
            </a:fld>
            <a:endParaRPr lang="en-US"/>
          </a:p>
        </p:txBody>
      </p:sp>
    </p:spTree>
    <p:extLst>
      <p:ext uri="{BB962C8B-B14F-4D97-AF65-F5344CB8AC3E}">
        <p14:creationId xmlns:p14="http://schemas.microsoft.com/office/powerpoint/2010/main" val="298219830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Tài liệu tham khảo</a:t>
            </a:r>
            <a:endParaRPr lang="en-US"/>
          </a:p>
        </p:txBody>
      </p:sp>
      <p:sp>
        <p:nvSpPr>
          <p:cNvPr id="3" name="Content Placeholder 2"/>
          <p:cNvSpPr>
            <a:spLocks noGrp="1"/>
          </p:cNvSpPr>
          <p:nvPr>
            <p:ph idx="1"/>
          </p:nvPr>
        </p:nvSpPr>
        <p:spPr/>
        <p:txBody>
          <a:bodyPr>
            <a:normAutofit fontScale="92500" lnSpcReduction="10000"/>
          </a:bodyPr>
          <a:lstStyle/>
          <a:p>
            <a:r>
              <a:rPr lang="en-US">
                <a:hlinkClick r:id="rId2"/>
              </a:rPr>
              <a:t>http</a:t>
            </a:r>
            <a:r>
              <a:rPr lang="en-US">
                <a:hlinkClick r:id="rId2"/>
              </a:rPr>
              <a:t>://</a:t>
            </a:r>
            <a:r>
              <a:rPr lang="en-US" smtClean="0">
                <a:hlinkClick r:id="rId2"/>
              </a:rPr>
              <a:t>en.wikipedia.org/wiki/Regression_testing</a:t>
            </a:r>
            <a:endParaRPr lang="en-US"/>
          </a:p>
          <a:p>
            <a:r>
              <a:rPr lang="en-US" smtClean="0">
                <a:hlinkClick r:id="rId3"/>
              </a:rPr>
              <a:t>http</a:t>
            </a:r>
            <a:r>
              <a:rPr lang="en-US">
                <a:hlinkClick r:id="rId3"/>
              </a:rPr>
              <a:t>://</a:t>
            </a:r>
            <a:r>
              <a:rPr lang="en-US" smtClean="0">
                <a:hlinkClick r:id="rId3"/>
              </a:rPr>
              <a:t>www.guru99.com/regression-testing.html</a:t>
            </a:r>
            <a:endParaRPr lang="en-US"/>
          </a:p>
          <a:p>
            <a:r>
              <a:rPr lang="en-US" smtClean="0">
                <a:hlinkClick r:id="rId4"/>
              </a:rPr>
              <a:t>http</a:t>
            </a:r>
            <a:r>
              <a:rPr lang="en-US">
                <a:hlinkClick r:id="rId4"/>
              </a:rPr>
              <a:t>://ieeexplore.ieee.org/xpl/login.jsp?tp</a:t>
            </a:r>
            <a:r>
              <a:rPr lang="en-US">
                <a:hlinkClick r:id="rId4"/>
              </a:rPr>
              <a:t>=&amp;</a:t>
            </a:r>
            <a:r>
              <a:rPr lang="en-US" smtClean="0">
                <a:hlinkClick r:id="rId4"/>
              </a:rPr>
              <a:t>arnumber=6132961&amp;url=http%3A%2F%2Fieeexplore.ieee.org%2Fxpls%2Fabs_all.jsp%3Farnumber%3D6132961</a:t>
            </a:r>
            <a:endParaRPr lang="en-US"/>
          </a:p>
          <a:p>
            <a:r>
              <a:rPr lang="en-US" smtClean="0">
                <a:hlinkClick r:id="rId5"/>
              </a:rPr>
              <a:t>http</a:t>
            </a:r>
            <a:r>
              <a:rPr lang="en-US">
                <a:hlinkClick r:id="rId5"/>
              </a:rPr>
              <a:t>://</a:t>
            </a:r>
            <a:r>
              <a:rPr lang="en-US" smtClean="0">
                <a:hlinkClick r:id="rId5"/>
              </a:rPr>
              <a:t>www.scribd.com/doc/6095386/Effective-Regression-Testing-Strategy</a:t>
            </a:r>
            <a:endParaRPr lang="en-US"/>
          </a:p>
          <a:p>
            <a:r>
              <a:rPr lang="en-US" smtClean="0">
                <a:hlinkClick r:id="rId6"/>
              </a:rPr>
              <a:t>http</a:t>
            </a:r>
            <a:r>
              <a:rPr lang="en-US">
                <a:hlinkClick r:id="rId6"/>
              </a:rPr>
              <a:t>://</a:t>
            </a:r>
            <a:r>
              <a:rPr lang="en-US" smtClean="0">
                <a:hlinkClick r:id="rId6"/>
              </a:rPr>
              <a:t>blogs.msdn.com/b/imtesty/archive/2007/01/10/regression-testing-strategies.aspx</a:t>
            </a:r>
            <a:endParaRPr lang="en-US"/>
          </a:p>
          <a:p>
            <a:r>
              <a:rPr lang="en-US" smtClean="0">
                <a:hlinkClick r:id="rId7"/>
              </a:rPr>
              <a:t>http</a:t>
            </a:r>
            <a:r>
              <a:rPr lang="en-US">
                <a:hlinkClick r:id="rId7"/>
              </a:rPr>
              <a:t>://</a:t>
            </a:r>
            <a:r>
              <a:rPr lang="en-US">
                <a:hlinkClick r:id="rId7"/>
              </a:rPr>
              <a:t>thinktesting.wordpress.com/2010/11/23/regression-testing-strategic-and-risk-driven-can-you-afford-not-to</a:t>
            </a:r>
            <a:r>
              <a:rPr lang="en-US" smtClean="0">
                <a:hlinkClick r:id="rId7"/>
              </a:rPr>
              <a:t>/</a:t>
            </a:r>
            <a:endParaRPr lang="en-US" smtClean="0"/>
          </a:p>
          <a:p>
            <a:endParaRPr lang="en-US"/>
          </a:p>
        </p:txBody>
      </p:sp>
      <p:sp>
        <p:nvSpPr>
          <p:cNvPr id="4" name="Slide Number Placeholder 3"/>
          <p:cNvSpPr>
            <a:spLocks noGrp="1"/>
          </p:cNvSpPr>
          <p:nvPr>
            <p:ph type="sldNum" sz="quarter" idx="12"/>
          </p:nvPr>
        </p:nvSpPr>
        <p:spPr/>
        <p:txBody>
          <a:bodyPr/>
          <a:lstStyle/>
          <a:p>
            <a:fld id="{8609F398-C622-4AA7-9AAC-BEB9A4B8EC3D}" type="slidenum">
              <a:rPr lang="en-US" smtClean="0"/>
              <a:t>14</a:t>
            </a:fld>
            <a:endParaRPr lang="en-US"/>
          </a:p>
        </p:txBody>
      </p:sp>
    </p:spTree>
    <p:extLst>
      <p:ext uri="{BB962C8B-B14F-4D97-AF65-F5344CB8AC3E}">
        <p14:creationId xmlns:p14="http://schemas.microsoft.com/office/powerpoint/2010/main" val="149851044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686</TotalTime>
  <Words>563</Words>
  <Application>Microsoft Office PowerPoint</Application>
  <PresentationFormat>Widescreen</PresentationFormat>
  <Paragraphs>85</Paragraphs>
  <Slides>14</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Calibri Light</vt:lpstr>
      <vt:lpstr>Courier New</vt:lpstr>
      <vt:lpstr>Office Theme</vt:lpstr>
      <vt:lpstr>Regression Testing</vt:lpstr>
      <vt:lpstr>Today’s Topics</vt:lpstr>
      <vt:lpstr>What is this term “Regression”?</vt:lpstr>
      <vt:lpstr>Regression: “when you fix one bug, you introduce several newer bugs.”</vt:lpstr>
      <vt:lpstr>When to do it?</vt:lpstr>
      <vt:lpstr>What’s the strategy?</vt:lpstr>
      <vt:lpstr>What’s the strategy?</vt:lpstr>
      <vt:lpstr>What’s the strategy? (cont.)</vt:lpstr>
      <vt:lpstr>What’s the strategy? (cont.)</vt:lpstr>
      <vt:lpstr>What’s the strategy? (cont.)</vt:lpstr>
      <vt:lpstr>Pros and Cons</vt:lpstr>
      <vt:lpstr>Pros and Cons (cont.)</vt:lpstr>
      <vt:lpstr>Conclusion</vt:lpstr>
      <vt:lpstr>Tài liệu tham khảo</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Regression Testing</dc:title>
  <dc:creator>Dell</dc:creator>
  <cp:lastModifiedBy>Dell</cp:lastModifiedBy>
  <cp:revision>25</cp:revision>
  <dcterms:created xsi:type="dcterms:W3CDTF">2020-05-16T03:52:39Z</dcterms:created>
  <dcterms:modified xsi:type="dcterms:W3CDTF">2020-05-16T15:19:06Z</dcterms:modified>
</cp:coreProperties>
</file>